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43891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A5E9"/>
                </a:solidFill>
                <a:latin typeface="Arial"/>
              </a:defRPr>
            </a:pPr>
            <a:r>
              <a:t>RESEARCH &amp; CLINICAL DECISION SUPPORT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NeoNatal Watch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AE6FD"/>
                </a:solidFill>
                <a:latin typeface="Arial"/>
              </a:defRPr>
            </a:pPr>
            <a:r>
              <a:t>Multi-Modal Longitudinal Clinical Decision Support &amp; Continuous NICU Telemetry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2331720" cy="11887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Prenatal Surveillance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Hadlock EFW &amp; Doppler 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749039"/>
            <a:ext cx="2331720" cy="11887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4-Model AI Ensemble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XGB + CNN-LSTM + Trf + 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2331720" cy="11887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Tri-Modal Explainability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SHAP + Residuals + 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749039"/>
            <a:ext cx="2331720" cy="11887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Continuous Telemetry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Sub-second Streaming &amp;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Validated End-to-End Across 200 Clinical Tests  |  FastAPI + MySQL + React + PyTorch  |  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CLINICAL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Critical Need for Proactive Neonatal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Preterm infants face rapid, silent deterioration where minutes dictate neurological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2999232" cy="411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Care Continuity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Maternal prenatal data remains siloed from post-delivery NICU charts.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Physicians lack immediate fetal trajectory context during acute newborn resuscitation.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Over 40% of maternal preeclampsia warnings fail to trigger proactive NICU staging.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81144" y="2103120"/>
            <a:ext cx="2999232" cy="411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Subtle Preterm Deterioration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65176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Neonatal sepsis, intraventricular hemorrhage, and RDS onset are insidious.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Vital signs show micro-variability changes hours before overt clinical collapse.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Conventional static threshold alarms fire only after severe decompensation occurs.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47888" y="2103120"/>
            <a:ext cx="2999232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Alarm Fatigue &amp; Black-Box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65176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&gt;85% of hospital ICU telemetry alerts are clinically non-actionable false alarms.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Doctors distrust opaque AI models that output risk numbers without physiological rationale.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• Clinicians require actionable biological explainability (vital contributions &amp; timing).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4338CA"/>
                </a:solidFill>
              </a:defRPr>
            </a:pPr>
            <a:r>
              <a:t>NeoNatal Watch AI Goal: Bridge prenatal care to NICU telemetry with multi-modal AI and clinician-first explainability.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Continuous Longitudinal Care Continuum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Tracking the patient across conception, prenatal assessments, delivery, and high-acuity NICU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2212848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1. Maternal Profile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Baseline Clinical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212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Demographics (Age, Gravida, Parity)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Hemodynamics: Mean Arterial Pressure (MAP)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Pre-existing: Chronic HTN, Diabetes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057400"/>
            <a:ext cx="221284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2. Prenatal Fetal Tracker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Growth &amp; Placental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2212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Hadlock Ultrasound (BPD, HC, AC, FL)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Estimated Fetal Weight (EFW) Percentiles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Uterine Artery Doppler (PI &amp; bilateral notch)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Biomarkers: PAPP-A &amp; PlGF serum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057400"/>
            <a:ext cx="2212848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3. Newborn &amp; NICU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Delivery &amp; Admission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2212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Birth Status: Gestational age, weight, length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APGAR scoring &amp; resuscitation events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NICU Bed Allocation &amp; diagnosis triage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Longitudinal mother-to-infant 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920240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2057400"/>
            <a:ext cx="2212848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4. Real-Time Telemetry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Multi-Vital AI Surveillance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51760"/>
            <a:ext cx="2212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High-frequency HR, SpO2, RR, Temp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60-minute sliding window feature extraction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Ensemble 4-model inference &amp; risk fusion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Tri-modal XAI &amp; WebSocket alert pushes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E0F2FE"/>
                </a:solidFill>
              </a:defRPr>
            </a:pPr>
            <a:r>
              <a:t>Full Stack Architecture: 18 MySQL Relational Entities  |  28 FastAPI REST Endpoints  |  SSE Telemetry  |  WebSocket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PRENATAL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Fetal Biometry, Doppler PI &amp; Placental Biomarkers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Detecting intrauterine growth restriction (IUGR) and placental insufficiency before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2999232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Hadlock Fetal Biometry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Ultrasound Anthropometry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Computes Estimated Fetal Weight (EFW) using Hadlock multi-parameter formula.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Integrates Biparietal Diameter (BPD), Head Circumference (HC), Abdominal Circumference (AC), and Femur Length (FL).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Evaluates gestational age-specific growth percentiles against standard ±2 standard deviation normal curves.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Early identification of Small-for-Gestational-Age (&lt;10th percentile) and Fetal Macrosomia (&gt;90th percentile).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35424" y="2057400"/>
            <a:ext cx="2999232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Uterine Artery Doppler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Uteroplacental Perfusion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69748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Measures Uterine Artery Pulsatility Index (UtA-PI) across 1st and 2nd trimesters.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Flags elevated vascular resistance and persistent bilateral diastolic notching.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Provides an early hemodynamic indicator of incomplete trophoblast invasion and impaired spiral artery remodeling.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Strong predictive indicator for early-onset preeclampsia and placental insufficiency.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6448" y="2057400"/>
            <a:ext cx="2999232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Maternal Serum Biomarkers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Biochemical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9748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Analyzes Pregnancy-Associated Plasma Protein-A (PAPP-A) in early pregnancy.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Tracks Placental Growth Factor (PlGF) as a vascular endothelial health marker.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Normalizes raw laboratory results to Multiples of the Median (MoM).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Low PAPP-A (&lt;0.4 MoM) combined with suppressed PlGF signals acute placental compromise.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59669"/>
                </a:solidFill>
              </a:defRPr>
            </a:pPr>
            <a:r>
              <a:t>Clinical Outcome: Fetal assessments directly feed newborn admission risk profiles, enabling preemptive NICU bed 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MULTI-MODAL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Four Specialized Machine Learning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Harnessing statistical learning, temporal sequences, self-attention, and unsupervised anomaly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212848" cy="5943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XGBoost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Tabular &amp; Statistical Features  (Weight: 35%)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21284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Analyzes 15+ engineered statistical features from 60-min window.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Features include rolling mean, standard deviation, min/max, trend slopes, and missingness metrics.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High stability, robust to outliers, calibrated probability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011680"/>
            <a:ext cx="2212848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CNN-LSTM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Spatio-Temporal Deep Learning  (Weight: 30%)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97480"/>
            <a:ext cx="221284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1D Convolutional layers capture local vital sign morphometry (sharp dips &amp; spikes).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LSTM memory units retain long-term temporal dependencies across the sequence.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Maps multi-vital trajectories to latent deterioration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2212848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Transformer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Multi-Head Self-Attention  (Weight: 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97480"/>
            <a:ext cx="221284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Self-attention mechanism assigns weights to key critical time steps.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Detects subtle non-linear vital co-dependencies (e.g. concurrent HR rise &amp; SpO2 fall).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Provides attention weight maps for temporal interpretability.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74519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2011680"/>
            <a:ext cx="2212848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Autoencoder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Unsupervised Anomaly Detection  (Weight: 15%)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97480"/>
            <a:ext cx="221284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Encoder-decoder architecture trained purely on stable physiological baselines.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Measures mean squared error (MSE) reconstruction loss.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Detects novel pathological patterns without requiring labeled failure datasets.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E0F2FE"/>
                </a:solidFill>
              </a:defRPr>
            </a:pPr>
            <a:r>
              <a:t>Multi-Model Ensemble Advantage: Eliminates single-model bias and achieves superior AUC compared to isolated classifiers.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RISK FUSION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Weighted Consensus &amp; Actionable Clinical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Transforming multiple model outputs into calibrated, actionable clinical risk levels.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057400"/>
            <a:ext cx="466344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EA5E9"/>
                </a:solidFill>
              </a:defRPr>
            </a:pPr>
            <a:r>
              <a:t>CALIBRATED FUSION FORMULA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Risk = 0.35(XGB) + 0.30(CNN-LSTM) + 0.20(Trf) + 0.15(AE)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Clinically Calibrated Weights: XGBoost provides reliable baseline discrimination; CNN-LSTM captures acute trajectory shifts.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Transformer &amp; Autoencoder Harmony: Attention spots temporal crisis ticks while AE captures unmodeled rare physiological anomalies.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Zero Hardcoded Scores: Every score is computed deterministically from multi-modal inference outputs.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Graceful Fallback: System handles missing vitals safely without silent crashes or corrupted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239512" cy="111556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59669"/>
                </a:solidFill>
              </a:defRPr>
            </a:pPr>
            <a:r>
              <a:t>LOW RISK  (&lt; 0.35) — Normal Baseline Monitoring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Physiological parameters within normal neonatal ranges.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Routine telemetry logging every 60 seconds; no alarms triggered.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45535"/>
            <a:ext cx="5239512" cy="1115568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WATCH  (0.35 - 0.70) — Heightened Surveillance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Subtle trends detected; minor heart rate variability or mild desaturation.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Yellow visual badge on dashboard; prompts nursing re-assessment.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16551"/>
            <a:ext cx="5239512" cy="1115568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HIGH RISK  (&gt;= 0.70) — Immediate Bedside Intervention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Severe multi-vital deterioration or acute anomaly score detected.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Red high-priority WebSocket alarm broadcast; alerts attending physician.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Result: Eliminates nuisance alarms by requiring multi-model consensus before triggering high-priority red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Tri-Modal Interpretability: Unmasking the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Doctors do not just see an alert; they see WHAT vital, WHEN in time, and WHY the AI raised concern.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2999232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SHAP TreeExplainer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Feature Importance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Computes exact Shapley contribution values for each statistical feature.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Quantifies whether HR standard deviation or SpO2 minimum drove the risk increase.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Generates clear horizontal attribution charts directly in the clinical UI.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Enables doctors to verify that the AI decision aligns with established neonatal physiology.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35424" y="2057400"/>
            <a:ext cx="2999232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Autoencoder Anomaly Residuals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Vital-Level Error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69748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Deconstructs total reconstruction error into individual vital channels.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Isolates whether the anomaly stems from Heart Rate, SpO2, Respiratory Rate, or Temp.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Displays baseline expected value alongside actual observed value.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Immediate bedside identification of subtle physiological channel degradation.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6448" y="2057400"/>
            <a:ext cx="2999232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Transformer Attention Maps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Temporal Horizon Localization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97480"/>
            <a:ext cx="2999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Extracts multi-head attention weights across the 60-minute window.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Pinpoints the exact minute ticks where the model focused its predictive attention.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Displays attention intensity heatmaps directly above continuous vital curves.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Highlights transient physiological events that preceded the alarm.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E0F2FE"/>
                </a:solidFill>
              </a:defRPr>
            </a:pPr>
            <a:r>
              <a:t>Clinical Trust Paradigm: Explainability transforms raw AI scores into justifiable clinical diagnostic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NICU TELEMETRY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High-Frequency Vital Streaming &amp; Alarm Deduplication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Continuous sub-second telemetry processing with clinical bounds checking and deduplicated emergency broadcasts.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2999232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Multi-Vital Stream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Continuous monitoring of 4 core neonatal vitals: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Heart Rate (HR): normal 120-160 bpm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Oxygen Saturation (SpO2): normal 92-98%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Respiratory Rate (RR): normal 30-60 /min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Core Temperature: normal 36.5-37.5 °C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Data ingestion handles sensor noise and missing values via validated imputation.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35424" y="2057400"/>
            <a:ext cx="2999232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Pathological Event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6060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Automated clinical condition flagging: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Severe Bradycardia (HR &lt; 100 bpm)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Persistent Tachycardia (HR &gt; 180 bpm)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Acute Desaturation (SpO2 &lt; 88%)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Tachypnea / Apnea (RR &lt; 20 or &gt; 70)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Dual verification: threshold violations corroborated by ML model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6448" y="2057400"/>
            <a:ext cx="2999232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Smart Alert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060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Intelligent Alarm Deduplication: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Suppresses repeating transient alarm chimes within 10-minute cooldown periods.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Distinguishes motion artifact spikes from sustained decompensation.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Full Doctor Acknowledgment Lifecycle: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  - Logs clinician ID, timestamp, and review notes in MySQL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Low Latency Telemetry: SSE delivers continuous sub-second vitals; WebSockets deliver instant bedside emergency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DOCTOR-FIRST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Clinical Usability &amp; Eye-Comfort Analytics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Engineered specifically for clinical decision-making, rapid triage, and reduced cognitive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2999232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Eye-Comfort Slate 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Elimination of scanlines, glowing CRT effects, and distracting visual animations.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Soft Slate (#F1F5F9) background with pure elevated white cards (#FFFFFF).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High contrast dark charcoal typography (#0F172A) adhering to WCAG AAA accessibility.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Support for instant Dark Mode toggle for low-lit night-shift NICU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35424" y="2057400"/>
            <a:ext cx="2999232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7-Tab Deep Inspection Drawer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6060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Tab 1: Clinical Overview &amp; Priority Summary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Tab 2: Prenatal &amp; Maternal Longitudinal Record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Tab 3: Newborn Birth &amp; NICU Admission Status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Tab 4: Interactive Chart.js Multi-Vital Telemetry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Tab 5: Multi-Modal XAI (SHAP, AE &amp; Attention)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Tab 6: Doctor Reviews, Findings &amp; Prescriptions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Tab 7: Longitudinal Patient Clinical Timeline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74519"/>
            <a:ext cx="3364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6448" y="2057400"/>
            <a:ext cx="2999232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AI Clinical Query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060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Embedded conversational AI assistant right on the patient dashboard.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Doctors can query: 'Summarize latest vitals' or 'Why did risk spike?'.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Retrieves verified database records and generates evidence-based clinical summaries.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Saves nursing staff valuable minutes during handoffs and shift rounds.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E0F2FE"/>
                </a:solidFill>
              </a:defRPr>
            </a:pPr>
            <a:r>
              <a:t>Live Interactive Dashboard: https://bhavan-06.github.io/neo_natal_watch_ai/ (Standalone &amp; Connected Modes)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Enterprise Full-Stack &amp; Relational 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High-performance asynchronous backend coupled with normalized medical relational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212848" cy="5943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FastAPI &amp; Python 3.12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Backend &amp; Inference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21284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Asynchronous Python web server powered by Uvicorn.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28 RESTful endpoints with Pydantic v2 data validation schemas.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Built-in OpenAPI (Swagger) interactive documentation.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PyTorch &amp; Scikit-Learn ML runtime engines.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011680"/>
            <a:ext cx="2212848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MySQL 8.0 &amp; SQLAlchemy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Relational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97480"/>
            <a:ext cx="221284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18 normalized clinical entities with strict foreign key constraints.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Alembic automated database migration versioning.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Indexes on patient IDs, newborn codes, and vital timestamps.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Zero data loss across server restarts and handoffs.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2212848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React 18 &amp; Tailwind CSS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Frontend &amp; Telemetry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97480"/>
            <a:ext cx="221284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Componentized declarative UI with real-time state hooks.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Tailwind CSS custom healthcare design token system.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Chart.js interactive multi-vital time-series visualization.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Pure browser portability without complex node build toolchains.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74519"/>
            <a:ext cx="24871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2011680"/>
            <a:ext cx="2212848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Real-Time Communications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Streaming &amp; Event Bus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97480"/>
            <a:ext cx="221284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Server-Sent Events (SSE) for sub-second telemetry feeds.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WebSocket full-duplex channel for instant alert broadcasts.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Thread-safe alert deduplication queue.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Graceful fallback to embedded clinical telemetry when offline.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E0F2FE"/>
                </a:solidFill>
              </a:defRPr>
            </a:pPr>
            <a:r>
              <a:t>Production Ready: Containerized via Docker &amp; Docker-Compose with isolated production networks and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VALIDATION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Q End-to-End Validation: 100%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Exhaustive test suite verifying the complete longitudinal workflow, model inference, and safety labeling.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87168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59669"/>
                </a:solidFill>
              </a:defRPr>
            </a:pPr>
            <a:r>
              <a:t>200 / 200</a:t>
            </a:r>
          </a:p>
          <a:p>
            <a:pPr algn="ctr">
              <a:defRPr b="1" sz="850">
                <a:solidFill>
                  <a:srgbClr val="0F172A"/>
                </a:solidFill>
              </a:defRPr>
            </a:pPr>
            <a:r>
              <a:t>AUTOMATED TESTS PASSED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0 Failures  |  100% Success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74519"/>
            <a:ext cx="2487168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284C7"/>
                </a:solidFill>
              </a:defRPr>
            </a:pPr>
            <a:r>
              <a:t>&lt; 1.2s</a:t>
            </a:r>
          </a:p>
          <a:p>
            <a:pPr algn="ctr">
              <a:defRPr b="1" sz="850">
                <a:solidFill>
                  <a:srgbClr val="0F172A"/>
                </a:solidFill>
              </a:defRPr>
            </a:pPr>
            <a:r>
              <a:t>END-TO-END INFERENCE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Sub-second 4-Model Fusion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2487168" cy="1188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EA5E9"/>
                </a:solidFill>
              </a:defRPr>
            </a:pPr>
            <a:r>
              <a:t>18 TABLES</a:t>
            </a:r>
          </a:p>
          <a:p>
            <a:pPr algn="ctr">
              <a:defRPr b="1" sz="850">
                <a:solidFill>
                  <a:srgbClr val="0F172A"/>
                </a:solidFill>
              </a:defRPr>
            </a:pPr>
            <a:r>
              <a:t>MYSQL SCHEMA VERIFIED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Full Cascades &amp; Linkages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74519"/>
            <a:ext cx="2487168" cy="1188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D97706"/>
                </a:solidFill>
              </a:defRPr>
            </a:pPr>
            <a:r>
              <a:t>10 PATIENTS</a:t>
            </a:r>
          </a:p>
          <a:p>
            <a:pPr algn="ctr">
              <a:defRPr b="1" sz="850">
                <a:solidFill>
                  <a:srgbClr val="0F172A"/>
                </a:solidFill>
              </a:defRPr>
            </a:pPr>
            <a:r>
              <a:t>COHORT JOURNEYS PROVEN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Maternal to NICU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Verified Functional Subsystems</a:t>
            </a:r>
          </a:p>
          <a:p>
            <a:pPr>
              <a:spcAft>
                <a:spcPts val="400"/>
              </a:spcAft>
              <a:defRPr sz="950">
                <a:solidFill>
                  <a:srgbClr val="059669"/>
                </a:solidFill>
              </a:defRPr>
            </a:pPr>
            <a:r>
              <a:t>✓  Prenatal Pipeline: Hadlock EFW, UtA Doppler PI, PAPP-A/PlGF lab scoring.</a:t>
            </a:r>
          </a:p>
          <a:p>
            <a:pPr>
              <a:spcAft>
                <a:spcPts val="400"/>
              </a:spcAft>
              <a:defRPr sz="950">
                <a:solidFill>
                  <a:srgbClr val="059669"/>
                </a:solidFill>
              </a:defRPr>
            </a:pPr>
            <a:r>
              <a:t>✓  Model Verifications: XGBoost, CNN-LSTM, Transformer, and Autoencoder.</a:t>
            </a:r>
          </a:p>
          <a:p>
            <a:pPr>
              <a:spcAft>
                <a:spcPts val="400"/>
              </a:spcAft>
              <a:defRPr sz="950">
                <a:solidFill>
                  <a:srgbClr val="059669"/>
                </a:solidFill>
              </a:defRPr>
            </a:pPr>
            <a:r>
              <a:t>✓  XAI Validations: SHAP attribution values, AE residuals, Attention heatmaps.</a:t>
            </a:r>
          </a:p>
          <a:p>
            <a:pPr>
              <a:spcAft>
                <a:spcPts val="400"/>
              </a:spcAft>
              <a:defRPr sz="950">
                <a:solidFill>
                  <a:srgbClr val="059669"/>
                </a:solidFill>
              </a:defRPr>
            </a:pPr>
            <a:r>
              <a:t>✓  Data Streaming: SSE vital generator, WebSocket alert deduplication.</a:t>
            </a:r>
          </a:p>
          <a:p>
            <a:pPr>
              <a:spcAft>
                <a:spcPts val="400"/>
              </a:spcAft>
              <a:defRPr sz="950">
                <a:solidFill>
                  <a:srgbClr val="059669"/>
                </a:solidFill>
              </a:defRPr>
            </a:pPr>
            <a:r>
              <a:t>✓  Persistence: MySQL transactions, foreign key cascades, doctor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395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Clinical Safety &amp; Governance</a:t>
            </a:r>
          </a:p>
          <a:p>
            <a:pPr>
              <a:spcAft>
                <a:spcPts val="400"/>
              </a:spcAft>
              <a:defRPr sz="950">
                <a:solidFill>
                  <a:srgbClr val="0284C7"/>
                </a:solidFill>
              </a:defRPr>
            </a:pPr>
            <a:r>
              <a:t>🛡️  Academic Prototype Guardrail: Explicit disclaimers on UI &amp; API headers.</a:t>
            </a:r>
          </a:p>
          <a:p>
            <a:pPr>
              <a:spcAft>
                <a:spcPts val="400"/>
              </a:spcAft>
              <a:defRPr sz="950">
                <a:solidFill>
                  <a:srgbClr val="0284C7"/>
                </a:solidFill>
              </a:defRPr>
            </a:pPr>
            <a:r>
              <a:t>🛡️  Zero Diagnostic Autonomy: System acts strictly as decision-support.</a:t>
            </a:r>
          </a:p>
          <a:p>
            <a:pPr>
              <a:spcAft>
                <a:spcPts val="400"/>
              </a:spcAft>
              <a:defRPr sz="950">
                <a:solidFill>
                  <a:srgbClr val="0284C7"/>
                </a:solidFill>
              </a:defRPr>
            </a:pPr>
            <a:r>
              <a:t>🛡️  Zero Fake Forecasts: Forecast limitation audits enforce honest uncertainty.</a:t>
            </a:r>
          </a:p>
          <a:p>
            <a:pPr>
              <a:spcAft>
                <a:spcPts val="400"/>
              </a:spcAft>
              <a:defRPr sz="950">
                <a:solidFill>
                  <a:srgbClr val="0284C7"/>
                </a:solidFill>
              </a:defRPr>
            </a:pPr>
            <a:r>
              <a:t>🛡️  Data Privacy Protection: Zero hardcoded patient identifiers or secrets.</a:t>
            </a:r>
          </a:p>
          <a:p>
            <a:pPr>
              <a:spcAft>
                <a:spcPts val="400"/>
              </a:spcAft>
              <a:defRPr sz="950">
                <a:solidFill>
                  <a:srgbClr val="0284C7"/>
                </a:solidFill>
              </a:defRPr>
            </a:pPr>
            <a:r>
              <a:t>🛡️  Reproducible Validation: Automated test suite runnable with single command.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E0F2FE"/>
                </a:solidFill>
              </a:defRPr>
            </a:pPr>
            <a:r>
              <a:t>Validation Conclusion: Phase Q confirms that the entire longitudinal pipeline operates flawlessly without regressions.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DEPLOYMENT &amp;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Dual-Mode Deployment: Public Showcase &amp; Production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Seamlessly transitioning between instant browser demonstration and high-availability containerized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057400"/>
            <a:ext cx="4663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GitHub Pages Public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Live Public URL: https://bhavan-06.github.io/neo_natal_watch_ai/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Automated CI/CD: Deployed automatically via GitHub Actions (.github/workflows/pages.yml).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Standalone Fallback: Embedded clinical data store simulates all 10 verified patient cohorts.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Full Interactivity: Working Chart.js vitals, 7-tab inspection drawer, XAI cards, and doctor reviews without needing a Python server.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Zero Configuration: Accessible from any phone, tablet, or browser worldwide.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23951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2057400"/>
            <a:ext cx="466344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Dockerized Production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974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Dockerfile: Multi-stage build with Python 3.12, PyTorch runtime, and FastAPI server.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Docker Compose: Multi-container orchestration linking FastAPI service with MySQL 8.0.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Cloud Ready: Pre-configured render.yaml and cloud templates for Render / AWS / GCP.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Security Verified: Zero secrets in git repository; strict .env.example parameterization.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</a:defRPr>
            </a:pPr>
            <a:r>
              <a:t>• Local Run Command: docker-compose up --build executes complete system in 1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15000"/>
            <a:ext cx="10725912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E0F2FE"/>
                </a:solidFill>
              </a:defRPr>
            </a:pPr>
            <a:r>
              <a:t>Dual-Mode Architecture delivers the best of both worlds: Instant demo accessibility + Enterprise cloud scalability.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Conclusion &amp; Future Clinical Horizon</a:t>
            </a:r>
          </a:p>
          <a:p>
            <a:pPr>
              <a:defRPr sz="1300">
                <a:solidFill>
                  <a:srgbClr val="BAE6FD"/>
                </a:solidFill>
              </a:defRPr>
            </a:pPr>
            <a:r>
              <a:t>Advancing neonatal care through proactive, interpretable, and continuous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46120" cy="310896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1. Hospital EHR &amp; FHIR Link</a:t>
            </a:r>
          </a:p>
          <a:p>
            <a:pPr>
              <a:spcAft>
                <a:spcPts val="1200"/>
              </a:spcAft>
              <a:defRPr sz="950">
                <a:solidFill>
                  <a:srgbClr val="0284C7"/>
                </a:solidFill>
              </a:defRPr>
            </a:pPr>
            <a:r>
              <a:t>Seamless Interoperability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Integration with HL7 FHIR (Fast Healthcare Interoperability Resources).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Bi-directional sync with Epic Systems and Cerner EHR records.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Automated import of lab panels and ultrasound scans.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2011680"/>
            <a:ext cx="3246120" cy="310896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2. Clinical Observational Trials</a:t>
            </a:r>
          </a:p>
          <a:p>
            <a:pPr>
              <a:spcAft>
                <a:spcPts val="1200"/>
              </a:spcAft>
              <a:defRPr sz="950">
                <a:solidFill>
                  <a:srgbClr val="059669"/>
                </a:solidFill>
              </a:defRPr>
            </a:pPr>
            <a:r>
              <a:t>Real-World Evidence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IRB-approved retrospective observational studies on NICU registries.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Benchmarking against MIMIC-III and physionet clinical databases.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Quantifying sensitivity, specificity, and lead time before deterioration.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2011680"/>
            <a:ext cx="3246120" cy="310896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3. Bedside Edge Compute</a:t>
            </a:r>
          </a:p>
          <a:p>
            <a:pPr>
              <a:spcAft>
                <a:spcPts val="1200"/>
              </a:spcAft>
              <a:defRPr sz="950">
                <a:solidFill>
                  <a:srgbClr val="0EA5E9"/>
                </a:solidFill>
              </a:defRPr>
            </a:pPr>
            <a:r>
              <a:t>Incubator Edge Hardware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Optimizing models with TensorRT for low-power edge computers (NVIDIA Jetson).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Zero cloud latency; fully autonomous monitoring during network outages.</a:t>
            </a:r>
          </a:p>
          <a:p>
            <a:pPr>
              <a:spcAft>
                <a:spcPts val="600"/>
              </a:spcAft>
              <a:defRPr sz="900">
                <a:solidFill>
                  <a:srgbClr val="E2E8F0"/>
                </a:solidFill>
              </a:defRPr>
            </a:pPr>
            <a:r>
              <a:t>• Direct interface with bedside pulse oximeters and ECG monitors.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94960"/>
            <a:ext cx="10332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Thank You! Questions &amp; Discussion Welcome</a:t>
            </a:r>
          </a:p>
          <a:p>
            <a:pPr algn="ctr">
              <a:defRPr sz="1000">
                <a:solidFill>
                  <a:srgbClr val="0EA5E9"/>
                </a:solidFill>
              </a:defRPr>
            </a:pPr>
            <a:r>
              <a:t>GitHub Repository: github.com/bhavan-06/neo_natal_watch_ai   |   Live Interactive Dashboard: bhavan-06.github.io/neo_natal_watch_ai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